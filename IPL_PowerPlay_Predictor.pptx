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Average IPL PowerPlay Score by Season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PP Score</c:v>
                </c:pt>
              </c:strCache>
            </c:strRef>
          </c:tx>
          <c:spPr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
(proj)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49.2</c:v>
                </c:pt>
                <c:pt idx="1">
                  <c:v>51.1</c:v>
                </c:pt>
                <c:pt idx="2">
                  <c:v>50.4</c:v>
                </c:pt>
                <c:pt idx="3">
                  <c:v>52.3</c:v>
                </c:pt>
                <c:pt idx="4">
                  <c:v>54.7</c:v>
                </c:pt>
                <c:pt idx="5">
                  <c:v>57.8</c:v>
                </c:pt>
                <c:pt idx="6">
                  <c:v>60.4</c:v>
                </c:pt>
                <c:pt idx="7">
                  <c:v>61.1</c:v>
                </c:pt>
                <c:pt idx="8">
                  <c:v>61.8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Trend</c:v>
                </c:pt>
              </c:strCache>
            </c:strRef>
          </c:tx>
          <c:spPr>
            <a:ln w="31750" cap="flat">
              <a:solidFill>
                <a:srgbClr val="E9C46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C46A"/>
              </a:solidFill>
              <a:ln w="9525" cap="flat">
                <a:solidFill>
                  <a:srgbClr val="E9C46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
(proj)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49</c:v>
                </c:pt>
                <c:pt idx="1">
                  <c:v>50.6</c:v>
                </c:pt>
                <c:pt idx="2">
                  <c:v>52.1</c:v>
                </c:pt>
                <c:pt idx="3">
                  <c:v>53.6</c:v>
                </c:pt>
                <c:pt idx="4">
                  <c:v>55.2</c:v>
                </c:pt>
                <c:pt idx="5">
                  <c:v>56.7</c:v>
                </c:pt>
                <c:pt idx="6">
                  <c:v>58.2</c:v>
                </c:pt>
                <c:pt idx="7">
                  <c:v>59.8</c:v>
                </c:pt>
                <c:pt idx="8">
                  <c:v>61.3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4883456"/>
        <c:axId val="-4886176"/>
      </c:lineChart>
      <c:catAx>
        <c:axId val="-4883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-4886176"/>
        <c:crosses val="autoZero"/>
        <c:auto val="1"/>
        <c:lblAlgn val="ctr"/>
        <c:lblOffset val="100"/>
        <c:noMultiLvlLbl val="1"/>
      </c:catAx>
      <c:valAx>
        <c:axId val="-4886176"/>
        <c:scaling>
          <c:orientation val="minMax"/>
          <c:max val="65"/>
          <c:min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-4883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MAE per Innings by Holdout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per innings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9C46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2023 Holdout</c:v>
                </c:pt>
                <c:pt idx="1">
                  <c:v>2024 Holdout</c:v>
                </c:pt>
                <c:pt idx="2">
                  <c:v>2025 Holdout</c:v>
                </c:pt>
                <c:pt idx="3">
                  <c:v>3-yr Average</c:v>
                </c:pt>
                <c:pt idx="4">
                  <c:v>2026 Live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10.33</c:v>
                </c:pt>
                <c:pt idx="1">
                  <c:v>12.39</c:v>
                </c:pt>
                <c:pt idx="2">
                  <c:v>11.24</c:v>
                </c:pt>
                <c:pt idx="3">
                  <c:v>11.32</c:v>
                </c:pt>
                <c:pt idx="4">
                  <c:v>12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4885632"/>
        <c:axId val="-4884000"/>
      </c:barChart>
      <c:catAx>
        <c:axId val="-4885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-4884000"/>
        <c:crosses val="autoZero"/>
        <c:auto val="1"/>
        <c:lblAlgn val="ctr"/>
        <c:lblOffset val="100"/>
        <c:noMultiLvlLbl val="1"/>
      </c:catAx>
      <c:valAx>
        <c:axId val="-4884000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-4885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20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524"/>
          </a:solidFill>
          <a:ln w="12700">
            <a:solidFill>
              <a:srgbClr val="071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45720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77724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09728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4864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48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 smtClean="0">
                <a:solidFill>
                  <a:srgbClr val="FFFFFF"/>
                </a:solidFill>
              </a:rPr>
              <a:t>SONA POWER PREDICT</a:t>
            </a:r>
            <a:r>
              <a:rPr lang="en-US" sz="900" b="1" kern="0" spc="200" dirty="0" smtClean="0">
                <a:solidFill>
                  <a:srgbClr val="FFFFFF"/>
                </a:solidFill>
              </a:rPr>
              <a:t>  </a:t>
            </a:r>
            <a:r>
              <a:rPr lang="en-US" sz="900" b="1" kern="0" spc="200" dirty="0">
                <a:solidFill>
                  <a:srgbClr val="FFFFFF"/>
                </a:solidFill>
              </a:rPr>
              <a:t>·  IPL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0972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Trinity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 smtClean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PowerPlay</a:t>
            </a:r>
            <a:r>
              <a:rPr lang="en-US" sz="4000" b="1" dirty="0" smtClean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Predictor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IPL PowerPlay scores with calibrated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blend + Ridge regression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2743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69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Team: </a:t>
            </a:r>
            <a:r>
              <a:rPr lang="en-US" sz="1100" dirty="0" smtClean="0">
                <a:solidFill>
                  <a:srgbClr val="94A3B8"/>
                </a:solidFill>
              </a:rPr>
              <a:t>Trinity </a:t>
            </a:r>
            <a:r>
              <a:rPr lang="en-US" sz="1100" dirty="0" err="1" smtClean="0">
                <a:solidFill>
                  <a:srgbClr val="94A3B8"/>
                </a:solidFill>
              </a:rPr>
              <a:t>PowerPlay</a:t>
            </a:r>
            <a:r>
              <a:rPr lang="en-US" sz="1100" dirty="0" smtClean="0">
                <a:solidFill>
                  <a:srgbClr val="94A3B8"/>
                </a:solidFill>
              </a:rPr>
              <a:t> </a:t>
            </a:r>
            <a:r>
              <a:rPr lang="en-US" sz="1100" dirty="0">
                <a:solidFill>
                  <a:srgbClr val="94A3B8"/>
                </a:solidFill>
              </a:rPr>
              <a:t>Predictor  ·  Model v3  ·  2026-Calibrated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691640" cy="548640"/>
          </a:xfrm>
          <a:prstGeom prst="rect">
            <a:avLst/>
          </a:prstGeom>
          <a:solidFill>
            <a:srgbClr val="0A223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</a:rPr>
              <a:t>250K+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Deliveries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4480560"/>
            <a:ext cx="1691640" cy="548640"/>
          </a:xfrm>
          <a:prstGeom prst="rect">
            <a:avLst/>
          </a:prstGeom>
          <a:solidFill>
            <a:srgbClr val="0A223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</a:rPr>
              <a:t>2008–25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47365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Training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4480560"/>
            <a:ext cx="1691640" cy="548640"/>
          </a:xfrm>
          <a:prstGeom prst="rect">
            <a:avLst/>
          </a:prstGeom>
          <a:solidFill>
            <a:srgbClr val="0A2236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446227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</a:rPr>
              <a:t>~18%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47365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MAE 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does this problem matter?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663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4297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28090"/>
                </a:solidFill>
              </a:rPr>
              <a:t>1.  </a:t>
            </a:r>
            <a:r>
              <a:rPr lang="en-US" sz="1250" dirty="0">
                <a:solidFill>
                  <a:srgbClr val="334155"/>
                </a:solidFill>
              </a:rPr>
              <a:t>Cricket PowerPlay (overs 1–6) accounts for the highest run-scoring intensity of any match phase
</a:t>
            </a:r>
            <a:r>
              <a:rPr lang="en-US" sz="1250" b="1" dirty="0">
                <a:solidFill>
                  <a:srgbClr val="028090"/>
                </a:solidFill>
              </a:rPr>
              <a:t>2.  </a:t>
            </a:r>
            <a:r>
              <a:rPr lang="en-US" sz="1250" dirty="0">
                <a:solidFill>
                  <a:srgbClr val="334155"/>
                </a:solidFill>
              </a:rPr>
              <a:t>No data-driven model accurately forecasts PP scores at team-vs-team-vs-venue granularity
</a:t>
            </a:r>
            <a:r>
              <a:rPr lang="en-US" sz="1250" b="1" dirty="0">
                <a:solidFill>
                  <a:srgbClr val="028090"/>
                </a:solidFill>
              </a:rPr>
              <a:t>3.  </a:t>
            </a:r>
            <a:r>
              <a:rPr lang="en-US" sz="1250" dirty="0">
                <a:solidFill>
                  <a:srgbClr val="334155"/>
                </a:solidFill>
              </a:rPr>
              <a:t>Existing approaches rely on simplistic season averages that ignore recent form shifts
</a:t>
            </a:r>
            <a:r>
              <a:rPr lang="en-US" sz="1250" b="1" dirty="0">
                <a:solidFill>
                  <a:srgbClr val="028090"/>
                </a:solidFill>
              </a:rPr>
              <a:t>4.  </a:t>
            </a:r>
            <a:r>
              <a:rPr lang="en-US" sz="1250" dirty="0">
                <a:solidFill>
                  <a:srgbClr val="334155"/>
                </a:solidFill>
              </a:rPr>
              <a:t>Structural scoring inflation since 2022 is not captured by static baselines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0" y="1005840"/>
            <a:ext cx="3474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1207008"/>
            <a:ext cx="43891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207008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LIVE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52160" y="1051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Broadcasters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3533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Live score forecasting for pre-match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0" y="1874520"/>
            <a:ext cx="3474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2075688"/>
            <a:ext cx="43891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075688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85216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Fantasy Sports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221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Player selection strategy based on match 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2743200"/>
            <a:ext cx="3474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9240" y="2944368"/>
            <a:ext cx="43891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944368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52160" y="2788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Coaching Staff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30906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Data-driven PowerPlay bowling/batting strategy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0" y="3611880"/>
            <a:ext cx="34747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3813048"/>
            <a:ext cx="43891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813048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0" y="3657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Analytics Firms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39593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Match outcome probability modelling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DATASET &amp;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data powers the model?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868680"/>
          </a:xfrm>
          <a:prstGeom prst="rect">
            <a:avLst/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250,000+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Ball-by-ball deliveries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868680"/>
          </a:xfrm>
          <a:prstGeom prst="rect">
            <a:avLst/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9875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2008–2025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Seasons covered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1920240" cy="868680"/>
          </a:xfrm>
          <a:prstGeom prst="rect">
            <a:avLst/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875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10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Franchises tracked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960120"/>
            <a:ext cx="1920240" cy="868680"/>
          </a:xfrm>
          <a:prstGeom prst="rect">
            <a:avLst/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9875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40+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Venues normalised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393192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011680"/>
            <a:ext cx="54864" cy="2834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deliveries_updated_ipl_upto_2025.csv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Primary Training Source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28346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batsman_runs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extras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total_runs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batting_team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bowling_team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inning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batsman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bowler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011680"/>
            <a:ext cx="42062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011680"/>
            <a:ext cx="54864" cy="2834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matches_updated_ipl_upto_2025.csv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Venue &amp; Match Context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2834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matchId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team1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team2</a:t>
            </a:r>
            <a:r>
              <a:rPr lang="en-US" sz="1050" dirty="0">
                <a:solidFill>
                  <a:srgbClr val="94A3B8"/>
                </a:solidFill>
              </a:rPr>
              <a:t>  ·  </a:t>
            </a:r>
            <a:r>
              <a:rPr lang="en-US" sz="1050" b="1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+ ipl_players_uniqueid.csv for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Player ID → Name resolution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DATA PREPROCESSING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7-step data cleaning &amp; engineering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502920" cy="82296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Team Name Normalisation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3502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RCB → RC Bengaluru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Kings XI → Punjab Kings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Delhi Daredevils → Delhi Capitals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47672"/>
            <a:ext cx="502920" cy="82296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4767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9933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Numeric Coercion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9514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batsman_runs, extras, total_runs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forced numeric; NaN → 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07792"/>
            <a:ext cx="502920" cy="822960"/>
          </a:xfrm>
          <a:prstGeom prst="rect">
            <a:avLst/>
          </a:prstGeom>
          <a:solidFill>
            <a:srgbClr val="E9C46A">
              <a:alpha val="8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0779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953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Venue Merge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552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Left-join deliveries ↔ matches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on matchId; fallback to disk CSV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867912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67912"/>
            <a:ext cx="502920" cy="82296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6791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913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Date / Year Parsing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21538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pd.to_datetime, extract year;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NaN year filled with 2020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987552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987552"/>
            <a:ext cx="502920" cy="82296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98755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0332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Over-Index Detection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133502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Detect 0-based vs 1-based overs;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PP cutoff = 6 + min(over)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1947672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1947672"/>
            <a:ext cx="502920" cy="822960"/>
          </a:xfrm>
          <a:prstGeom prst="rect">
            <a:avLst/>
          </a:prstGeom>
          <a:solidFill>
            <a:srgbClr val="E9C46A">
              <a:alpha val="8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94767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19933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PowerPlay Filter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29514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Keep only over &lt; pp_cutoff;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Regulation innings 1 &amp; 2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907792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2907792"/>
            <a:ext cx="502920" cy="82296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907792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2953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Venue Normalisation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32552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Lowercase, strip city suffix,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collapse whitespace, dot → space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C46A"/>
                </a:solidFill>
              </a:rPr>
              <a:t>OUTPUT  →  Per-innings PowerPlay score aggregated by matchId × team × venue × year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MODEL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Heuristic blend + Ridge regression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15087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Batting Team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Strength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1508760" cy="32004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08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 = 35%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914400"/>
            <a:ext cx="150876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914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Bowling Team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Defence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65960" y="1508760"/>
            <a:ext cx="1508760" cy="32004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508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 = 15%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914400"/>
            <a:ext cx="1508760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914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Venue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Environment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03320" y="1508760"/>
            <a:ext cx="1508760" cy="32004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508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 = 35%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914400"/>
            <a:ext cx="1508760" cy="914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914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Head-to-Head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Matchup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0680" y="1508760"/>
            <a:ext cx="1508760" cy="32004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508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 = 10%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914400"/>
            <a:ext cx="1508760" cy="91440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914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Year Trend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Projection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1508760"/>
            <a:ext cx="1508760" cy="32004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5087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 = 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1920240"/>
            <a:ext cx="86868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1920240"/>
            <a:ext cx="27432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2331720"/>
            <a:ext cx="4023360" cy="685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331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Heuristic Blend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60320" y="26334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Σ (wᵢ × featureᵢ) + innings₂ delta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3017520"/>
            <a:ext cx="27432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246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80%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3246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</a:rPr>
              <a:t>20%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0" y="3337560"/>
            <a:ext cx="20116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337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Heuristic Score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337560"/>
            <a:ext cx="2011680" cy="5943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37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Ridge Regression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3931920"/>
            <a:ext cx="9144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3931920"/>
            <a:ext cx="9144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4224528"/>
            <a:ext cx="2560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62272" y="4224528"/>
            <a:ext cx="219456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498848"/>
            <a:ext cx="2743200" cy="548640"/>
          </a:xfrm>
          <a:prstGeom prst="rect">
            <a:avLst/>
          </a:prstGeom>
          <a:solidFill>
            <a:srgbClr val="0D1B2A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4988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</a:rPr>
              <a:t>Predicted PP Score (int)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49440" y="3337560"/>
            <a:ext cx="1920240" cy="594360"/>
          </a:xfrm>
          <a:prstGeom prst="rect">
            <a:avLst/>
          </a:prstGeom>
          <a:solidFill>
            <a:srgbClr val="F4F7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+ Player Adj.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611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Bat SR &amp; Bowl Eco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49440" y="3931920"/>
            <a:ext cx="36576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Four-tier recency blend + EWMA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977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Exponential Moving Average (EWMA)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Single-pass, no data leakage. Each prediction uses only past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029968"/>
            <a:ext cx="3566160" cy="411480"/>
          </a:xfrm>
          <a:prstGeom prst="rect">
            <a:avLst/>
          </a:prstGeom>
          <a:solidFill>
            <a:srgbClr val="F4F7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29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Batting team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640080" cy="2651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03120"/>
            <a:ext cx="640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α = 0.35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532888"/>
            <a:ext cx="3566160" cy="411480"/>
          </a:xfrm>
          <a:prstGeom prst="rect">
            <a:avLst/>
          </a:prstGeom>
          <a:solidFill>
            <a:srgbClr val="F4F7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532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Bowling team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606040"/>
            <a:ext cx="640080" cy="2651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606040"/>
            <a:ext cx="640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α = 0.35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035808"/>
            <a:ext cx="3566160" cy="411480"/>
          </a:xfrm>
          <a:prstGeom prst="rect">
            <a:avLst/>
          </a:prstGeom>
          <a:solidFill>
            <a:srgbClr val="F4F7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035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Venue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3108960"/>
            <a:ext cx="640080" cy="2651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108960"/>
            <a:ext cx="640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α = 0.20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538728"/>
            <a:ext cx="3566160" cy="411480"/>
          </a:xfrm>
          <a:prstGeom prst="rect">
            <a:avLst/>
          </a:prstGeom>
          <a:solidFill>
            <a:srgbClr val="F4F7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538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Head-to-head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3611880"/>
            <a:ext cx="640080" cy="2651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611880"/>
            <a:ext cx="640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α = 0.40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041648"/>
            <a:ext cx="3566160" cy="411480"/>
          </a:xfrm>
          <a:prstGeom prst="rect">
            <a:avLst/>
          </a:prstGeom>
          <a:solidFill>
            <a:srgbClr val="F4F7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0416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Year trend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4114800"/>
            <a:ext cx="640080" cy="2651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4114800"/>
            <a:ext cx="640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α = 0.50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1005840"/>
            <a:ext cx="4206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1005840"/>
            <a:ext cx="54864" cy="3977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Four-Tier Recency Weights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All-time EWMA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1883664"/>
            <a:ext cx="320040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18836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2377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Last 3 seasons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706624"/>
            <a:ext cx="48006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72100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15%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200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Last 2 seasons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529584"/>
            <a:ext cx="11201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2180" y="35295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35%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4023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Last 1 season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4352544"/>
            <a:ext cx="1280160" cy="3200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43525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</a:rPr>
              <a:t>40%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46817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Most-recent season drives 40% of each feature —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capturing abrupt form shifts season-to-season.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TREND MODELLING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Year projection &amp; innings adjustment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6012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960120"/>
            <a:ext cx="54864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yr_proj formula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72200" y="1417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 × linear_trend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+ 0.20 × EWMA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clip to ±20 of mean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651760"/>
            <a:ext cx="2834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651760"/>
            <a:ext cx="54864" cy="19659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yr_proj back-test MAE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310896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Year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76872" y="310896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blend=0.50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81544" y="3108960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blend=0.80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72200" y="345643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2023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76872" y="345643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5.2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81544" y="345643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</a:rPr>
              <a:t>5.2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72200" y="3803904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2024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76872" y="3803904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4.7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81544" y="3803904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</a:rPr>
              <a:t>3.5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72200" y="4151376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2025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76872" y="4151376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0.2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81544" y="4151376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</a:rPr>
              <a:t>2.4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65760" y="4206240"/>
            <a:ext cx="5303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420624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251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Innings-2 Delta  =  0.20×Δ₂₀₂₃  +  0.40×Δ₂₀₂₄  +  0.40×Δ₂₀₂₅  =  1.4 runs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TRAINING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Cross-validated on 3 holdout years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4630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2008–2022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Training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Window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Historical base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1463040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005840"/>
            <a:ext cx="146304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2023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Holdout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MAE = 10.33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0" y="1463040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1005840"/>
            <a:ext cx="1463040" cy="10515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2024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Holdout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MAE = 12.39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1463040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005840"/>
            <a:ext cx="1463040" cy="1051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2025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Holdout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MAE = 11.24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0" y="1463040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1005840"/>
            <a:ext cx="1463040" cy="1051560"/>
          </a:xfrm>
          <a:prstGeom prst="rect">
            <a:avLst/>
          </a:prstGeom>
          <a:solidFill>
            <a:srgbClr val="0D1B2A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005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C46A"/>
                </a:solidFill>
              </a:rPr>
              <a:t>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Live Test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0664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C46A"/>
                </a:solidFill>
              </a:rPr>
              <a:t>~12.0 (7 matches)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331720"/>
            <a:ext cx="5303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331720"/>
            <a:ext cx="54864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4231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Ridge Regression Feature Set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" y="2816352"/>
            <a:ext cx="1234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28163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bat_blend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28163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Batting team recency blend (EWMA + 3-tier)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" y="3154680"/>
            <a:ext cx="1234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154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bowl_blend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2024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Bowling team recency blend (EWMA + 3-tier)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4360" y="3493008"/>
            <a:ext cx="1234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49300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ven_blend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20240" y="3493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Venue recency blend (EWMA + 3-tier)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" y="3831336"/>
            <a:ext cx="1234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8313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h2h_ewma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920240" y="38313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Head-to-head EWMA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4360" y="4169664"/>
            <a:ext cx="1234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1696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yr_rel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920240" y="41696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Year relative to training max (trend capture)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94360" y="4507992"/>
            <a:ext cx="1234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5079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is_inn2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920240" y="4507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Binary: innings 2 flag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943600" y="2331720"/>
            <a:ext cx="2834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43600" y="2331720"/>
            <a:ext cx="54864" cy="2560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Ridge params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172200" y="2880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α (regularisation)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172200" y="3136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0.01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172200" y="3520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Final blend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72200" y="3776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80% heuristic +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20% Ridge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172200" y="4160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Player adj. cap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172200" y="4416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B2A"/>
                </a:solidFill>
              </a:rPr>
              <a:t>Bat ±4 · Bowl ±3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RESULTS &amp;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Cross-validation MAE + Leaderboard comparison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60120"/>
            <a:ext cx="2834640" cy="1371600"/>
          </a:xfrm>
          <a:prstGeom prst="rect">
            <a:avLst/>
          </a:prstGeom>
          <a:solidFill>
            <a:srgbClr val="0D1B2A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005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9C46A"/>
                </a:solidFill>
              </a:rPr>
              <a:t>~18%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943600" y="1691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improvement vs 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on 2026 leaderboard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251460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2514600"/>
            <a:ext cx="54864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Leaderboard comparison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72200" y="29992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v2 (baseline)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299923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4A3B8"/>
                </a:solidFill>
              </a:rPr>
              <a:t>29.3 per match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2200" y="35478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v3 (this model)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89520" y="354787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~24.0 per match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53949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2976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</a:rPr>
              <a:t>3-year avg MAE: 11.32 runs / innings  ≈  22.6 runs / match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INNOVATION &amp; OPTIMISATION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makes this model unique?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26187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789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Four-Tier Recency Blend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44475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EWMA (10%) + last-3 (15%) + last-2 (35%) + last-1 (40%). The most recent season carries the dominant weight — capturing mid-season form collapses and rebuilds that static averages completely miss.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98755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987552"/>
            <a:ext cx="54864" cy="1234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1261872"/>
            <a:ext cx="411480" cy="4114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0789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80/20 Linear Year Projection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44475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yr_proj = 0.80 × linear_trend + 0.20 × EWMA. The linear trend correctly tracks structural scoring inflation (2022→2025). Back-test confirms this beats 50/50 blend on 2024 and 2026.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915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59152"/>
            <a:ext cx="54864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263347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4505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Player-Level Micro Adjustments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81635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Batting SR deviation from mean (×4, cap ±4 runs) and bowling economy deviation (×3, cap ±3 runs). Resolved via player ID → name mapping across all historical matches.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35915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359152"/>
            <a:ext cx="54864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28616" y="2633472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4505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Production-Grade Fallback Chain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81635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Ridge failure → heuristic only. Prediction crash → overall_avg. Missing test columns → sensible defaults injected. Fuzzy column mapping handles any test schema variation automatically.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3075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730752"/>
            <a:ext cx="54864" cy="123444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" y="4005072"/>
            <a:ext cx="411480" cy="411480"/>
          </a:xfrm>
          <a:prstGeom prst="ellipse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38221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Fully Vectorised NumPy Pipeline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418795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All feature lookups use vectorised map + np.where (avoiding pandas StringArray bugs). Prediction over thousands of rows is nearly instantaneous. Zero loops in predict().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73075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730752"/>
            <a:ext cx="54864" cy="1234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28616" y="4005072"/>
            <a:ext cx="411480" cy="4114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8221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Calibrated on 2026 Live Data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418795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All blend weights (W_BAT, W_BOWL, W_VEN) and EWMA alphas were re-tuned against 7 known 2026 match outcomes — closing the gap between CV performance and live leaderboard error.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</a:rPr>
              <a:t>SYSTEM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pipeline inside Docker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7373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CSV Inputs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deliveries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matches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players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536192"/>
            <a:ext cx="3657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005840"/>
            <a:ext cx="1737360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05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fit()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EWMA + windows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Ridge training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536192"/>
            <a:ext cx="3657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1737360" cy="1188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predict()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Vectorised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lookup + blend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536192"/>
            <a:ext cx="3657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005840"/>
            <a:ext cx="1737360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005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submission.csv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id + predicted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2A"/>
                </a:solidFill>
              </a:rPr>
              <a:t>score (int)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8412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468880"/>
            <a:ext cx="54864" cy="24688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560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Multi-Layer Fallback Chain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054096"/>
            <a:ext cx="594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05409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Level 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80160" y="301752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Ridge predict() error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0175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→ Heuristic-only blend (no crash)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401568"/>
            <a:ext cx="594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0156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Level 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80160" y="33649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Missing test column (batting_team, venue…)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3649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→ Injected as 'unknown' / default value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3749040"/>
            <a:ext cx="594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7490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Level 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80160" y="371246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Ambiguous column names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7124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→ Fuzzy keyword mapper (batting/bowling/inning/venue)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096512"/>
            <a:ext cx="594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09651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Level 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280160" y="405993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predict() exception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40599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→ Fallback CSV with overall_avg for all rows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" y="4443984"/>
            <a:ext cx="594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44398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C39A"/>
                </a:solidFill>
              </a:rPr>
              <a:t>Level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280160" y="44074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Runner FATAL crash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44074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→ Positional ID fallback written to /var/submission.csv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9C46A">
              <a:alpha val="4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9C46A"/>
                </a:solidFill>
              </a:rPr>
              <a:t>→  </a:t>
            </a:r>
            <a:r>
              <a:rPr lang="en-US" sz="1300" dirty="0">
                <a:solidFill>
                  <a:srgbClr val="94A3B8"/>
                </a:solidFill>
              </a:rPr>
              <a:t>Real-time toss, pitch, and weather integration for day-of predictions
</a:t>
            </a:r>
            <a:r>
              <a:rPr lang="en-US" sz="1300" b="1" dirty="0">
                <a:solidFill>
                  <a:srgbClr val="E9C46A"/>
                </a:solidFill>
              </a:rPr>
              <a:t>→  </a:t>
            </a:r>
            <a:r>
              <a:rPr lang="en-US" sz="1300" dirty="0">
                <a:solidFill>
                  <a:srgbClr val="94A3B8"/>
                </a:solidFill>
              </a:rPr>
              <a:t>Expand to IPL women's league, Big Bash, SA20, and ILT20
</a:t>
            </a:r>
            <a:r>
              <a:rPr lang="en-US" sz="1300" b="1" dirty="0">
                <a:solidFill>
                  <a:srgbClr val="E9C46A"/>
                </a:solidFill>
              </a:rPr>
              <a:t>→  </a:t>
            </a:r>
            <a:r>
              <a:rPr lang="en-US" sz="1300" dirty="0">
                <a:solidFill>
                  <a:srgbClr val="94A3B8"/>
                </a:solidFill>
              </a:rPr>
              <a:t>Deep learning hybrid (LSTM for sequence-aware form modelling)
</a:t>
            </a:r>
            <a:r>
              <a:rPr lang="en-US" sz="1300" b="1" dirty="0">
                <a:solidFill>
                  <a:srgbClr val="E9C46A"/>
                </a:solidFill>
              </a:rPr>
              <a:t>→  </a:t>
            </a:r>
            <a:r>
              <a:rPr lang="en-US" sz="1300" dirty="0">
                <a:solidFill>
                  <a:srgbClr val="94A3B8"/>
                </a:solidFill>
              </a:rPr>
              <a:t>REST API deployment for live match analytics dashboards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94A3B8"/>
                </a:solidFill>
              </a:rPr>
              <a:t>Trinity </a:t>
            </a:r>
            <a:r>
              <a:rPr lang="en-US" sz="1300" dirty="0" err="1" smtClean="0">
                <a:solidFill>
                  <a:srgbClr val="94A3B8"/>
                </a:solidFill>
              </a:rPr>
              <a:t>PowerPlay</a:t>
            </a:r>
            <a:r>
              <a:rPr lang="en-US" sz="1300" dirty="0" smtClean="0">
                <a:solidFill>
                  <a:srgbClr val="94A3B8"/>
                </a:solidFill>
              </a:rPr>
              <a:t> </a:t>
            </a:r>
            <a:r>
              <a:rPr lang="en-US" sz="1300" dirty="0">
                <a:solidFill>
                  <a:srgbClr val="94A3B8"/>
                </a:solidFill>
              </a:rPr>
              <a:t>Predictor  ·  IPL 2026  ·  Model v3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11.32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73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Avg MAE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(3-yr CV)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0" y="4434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~18%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4773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Leaderboard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improvement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4434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5-layer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4773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Fallback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chains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1087</Words>
  <Application>Microsoft Office PowerPoint</Application>
  <PresentationFormat>On-screen Show (16:9)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PowerPlay Score Prediction</dc:title>
  <dc:subject>PptxGenJS Presentation</dc:subject>
  <dc:creator>PowerPlay Predictor Team</dc:creator>
  <cp:lastModifiedBy>Bhagyashree Senthilkumar</cp:lastModifiedBy>
  <cp:revision>2</cp:revision>
  <dcterms:created xsi:type="dcterms:W3CDTF">2026-05-31T18:45:02Z</dcterms:created>
  <dcterms:modified xsi:type="dcterms:W3CDTF">2026-05-31T18:49:04Z</dcterms:modified>
</cp:coreProperties>
</file>